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26.svg" ContentType="image/svg+xml"/>
  <Override PartName="/ppt/media/image28.svg" ContentType="image/svg+xml"/>
  <Override PartName="/ppt/media/image3.svg" ContentType="image/svg+xml"/>
  <Override PartName="/ppt/media/image30.svg" ContentType="image/svg+xml"/>
  <Override PartName="/ppt/media/image32.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6.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8" r:id="rId8"/>
    <p:sldId id="260" r:id="rId10"/>
    <p:sldId id="267" r:id="rId17"/>
    <p:sldId id="268" r:id="rId18"/>
    <p:sldId id="271" r:id="rId21"/>
  </p:sldIdLst>
  <p:sldSz cx="18288000" cy="10287000"/>
  <p:notesSz cx="6858000" cy="9144000"/>
  <p:embeddedFontLst>
    <p:embeddedFont>
      <p:font typeface="Poppins Light" charset="1" panose="00000400000000000000"/>
      <p:regular r:id="rId22"/>
    </p:embeddedFont>
    <p:embeddedFont>
      <p:font typeface="Poppins" charset="1" panose="000005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8" Type="http://schemas.openxmlformats.org/officeDocument/2006/relationships/slide" Target="slides/slide3.xml"/><Relationship Id="rId10" Type="http://schemas.openxmlformats.org/officeDocument/2006/relationships/slide" Target="slides/slide5.xml"/><Relationship Id="rId17" Type="http://schemas.openxmlformats.org/officeDocument/2006/relationships/slide" Target="slides/slide12.xml"/><Relationship Id="rId18" Type="http://schemas.openxmlformats.org/officeDocument/2006/relationships/slide" Target="slides/slide13.xml"/><Relationship Id="rId21" Type="http://schemas.openxmlformats.org/officeDocument/2006/relationships/slide" Target="slides/slide16.xml"/><Relationship Id="rId22" Type="http://schemas.openxmlformats.org/officeDocument/2006/relationships/font" Target="fonts/font22.fntdata"/><Relationship Id="rId23" Type="http://schemas.openxmlformats.org/officeDocument/2006/relationships/font" Target="fonts/font2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image" Target="../media/image10.svg"/><Relationship Id="rId5" Type="http://schemas.openxmlformats.org/officeDocument/2006/relationships/image" Target="../media/image11.png"/><Relationship Id="rId6" Type="http://schemas.openxmlformats.org/officeDocument/2006/relationships/image" Target="../media/image12.svg"/><Relationship Id="rId7" Type="http://schemas.openxmlformats.org/officeDocument/2006/relationships/image" Target="../media/image13.png"/><Relationship Id="rId8" Type="http://schemas.openxmlformats.org/officeDocument/2006/relationships/image" Target="../media/image14.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png"/><Relationship Id="rId4" Type="http://schemas.openxmlformats.org/officeDocument/2006/relationships/image" Target="../media/image26.svg"/><Relationship Id="rId5" Type="http://schemas.openxmlformats.org/officeDocument/2006/relationships/image" Target="../media/image27.png"/><Relationship Id="rId6" Type="http://schemas.openxmlformats.org/officeDocument/2006/relationships/image" Target="../media/image28.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png"/><Relationship Id="rId4" Type="http://schemas.openxmlformats.org/officeDocument/2006/relationships/image" Target="../media/image30.svg"/><Relationship Id="rId5" Type="http://schemas.openxmlformats.org/officeDocument/2006/relationships/image" Target="../media/image31.png"/><Relationship Id="rId6" Type="http://schemas.openxmlformats.org/officeDocument/2006/relationships/image" Target="../media/image32.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984134" y="1702613"/>
            <a:ext cx="16230600" cy="6881774"/>
          </a:xfrm>
          <a:custGeom>
            <a:avLst/>
            <a:gdLst/>
            <a:ahLst/>
            <a:cxnLst/>
            <a:rect r="r" b="b" t="t" l="l"/>
            <a:pathLst>
              <a:path h="6881774" w="16230600">
                <a:moveTo>
                  <a:pt x="0" y="0"/>
                </a:moveTo>
                <a:lnTo>
                  <a:pt x="16230600" y="0"/>
                </a:lnTo>
                <a:lnTo>
                  <a:pt x="16230600" y="6881774"/>
                </a:lnTo>
                <a:lnTo>
                  <a:pt x="0" y="6881774"/>
                </a:lnTo>
                <a:lnTo>
                  <a:pt x="0" y="0"/>
                </a:lnTo>
                <a:close/>
              </a:path>
            </a:pathLst>
          </a:custGeom>
          <a:blipFill>
            <a:blip r:embed="rId2">
              <a:alphaModFix amt="60000"/>
            </a:blip>
            <a:stretch>
              <a:fillRect l="0" t="0" r="0" b="0"/>
            </a:stretch>
          </a:blipFill>
        </p:spPr>
      </p:sp>
      <p:sp>
        <p:nvSpPr>
          <p:cNvPr name="Freeform 3" id="3"/>
          <p:cNvSpPr/>
          <p:nvPr/>
        </p:nvSpPr>
        <p:spPr>
          <a:xfrm flipH="false" flipV="false" rot="0">
            <a:off x="2571750" y="1905000"/>
            <a:ext cx="274374" cy="274374"/>
          </a:xfrm>
          <a:custGeom>
            <a:avLst/>
            <a:gdLst/>
            <a:ahLst/>
            <a:cxnLst/>
            <a:rect r="r" b="b" t="t" l="l"/>
            <a:pathLst>
              <a:path h="274374" w="274374">
                <a:moveTo>
                  <a:pt x="0" y="0"/>
                </a:moveTo>
                <a:lnTo>
                  <a:pt x="274374" y="0"/>
                </a:lnTo>
                <a:lnTo>
                  <a:pt x="274374" y="274374"/>
                </a:lnTo>
                <a:lnTo>
                  <a:pt x="0" y="27437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2571750" y="3496256"/>
            <a:ext cx="6750721" cy="3418204"/>
          </a:xfrm>
          <a:prstGeom prst="rect">
            <a:avLst/>
          </a:prstGeom>
        </p:spPr>
        <p:txBody>
          <a:bodyPr anchor="t" rtlCol="false" tIns="0" lIns="0" bIns="0" rIns="0">
            <a:spAutoFit/>
          </a:bodyPr>
          <a:lstStyle/>
          <a:p>
            <a:pPr algn="l">
              <a:lnSpc>
                <a:spcPts val="12699"/>
              </a:lnSpc>
            </a:pPr>
            <a:r>
              <a:rPr lang="en-US" sz="12699" spc="-253">
                <a:solidFill>
                  <a:srgbClr val="FFFFFF"/>
                </a:solidFill>
                <a:latin typeface="Poppins Light"/>
                <a:ea typeface="Poppins Light"/>
                <a:cs typeface="Poppins Light"/>
                <a:sym typeface="Poppins Light"/>
              </a:rPr>
              <a:t>GROUP</a:t>
            </a:r>
          </a:p>
          <a:p>
            <a:pPr algn="l">
              <a:lnSpc>
                <a:spcPts val="12699"/>
              </a:lnSpc>
            </a:pPr>
            <a:r>
              <a:rPr lang="en-US" sz="12699" spc="-253">
                <a:solidFill>
                  <a:srgbClr val="FFFFFF"/>
                </a:solidFill>
                <a:latin typeface="Poppins Light"/>
                <a:ea typeface="Poppins Light"/>
                <a:cs typeface="Poppins Light"/>
                <a:sym typeface="Poppins Light"/>
              </a:rPr>
              <a:t>PROJECT</a:t>
            </a:r>
          </a:p>
        </p:txBody>
      </p:sp>
      <p:sp>
        <p:nvSpPr>
          <p:cNvPr name="TextBox 5" id="5"/>
          <p:cNvSpPr txBox="true"/>
          <p:nvPr/>
        </p:nvSpPr>
        <p:spPr>
          <a:xfrm rot="0">
            <a:off x="3036624" y="1914525"/>
            <a:ext cx="1175133" cy="264795"/>
          </a:xfrm>
          <a:prstGeom prst="rect">
            <a:avLst/>
          </a:prstGeom>
        </p:spPr>
        <p:txBody>
          <a:bodyPr anchor="t" rtlCol="false" tIns="0" lIns="0" bIns="0" rIns="0">
            <a:spAutoFit/>
          </a:bodyPr>
          <a:lstStyle/>
          <a:p>
            <a:pPr algn="l">
              <a:lnSpc>
                <a:spcPts val="1800"/>
              </a:lnSpc>
            </a:pPr>
            <a:r>
              <a:rPr lang="en-US" sz="1800">
                <a:solidFill>
                  <a:srgbClr val="FFFFFF"/>
                </a:solidFill>
                <a:latin typeface="Poppins"/>
                <a:ea typeface="Poppins"/>
                <a:cs typeface="Poppins"/>
                <a:sym typeface="Poppins"/>
              </a:rPr>
              <a:t>BORCELLE</a:t>
            </a:r>
          </a:p>
        </p:txBody>
      </p:sp>
      <p:sp>
        <p:nvSpPr>
          <p:cNvPr name="TextBox 6" id="6"/>
          <p:cNvSpPr txBox="true"/>
          <p:nvPr/>
        </p:nvSpPr>
        <p:spPr>
          <a:xfrm rot="0">
            <a:off x="2571750" y="8114719"/>
            <a:ext cx="1893561" cy="264795"/>
          </a:xfrm>
          <a:prstGeom prst="rect">
            <a:avLst/>
          </a:prstGeom>
        </p:spPr>
        <p:txBody>
          <a:bodyPr anchor="t" rtlCol="false" tIns="0" lIns="0" bIns="0" rIns="0">
            <a:spAutoFit/>
          </a:bodyPr>
          <a:lstStyle/>
          <a:p>
            <a:pPr algn="l">
              <a:lnSpc>
                <a:spcPts val="1800"/>
              </a:lnSpc>
            </a:pPr>
            <a:r>
              <a:rPr lang="en-US" sz="1800">
                <a:solidFill>
                  <a:srgbClr val="FFFFFF"/>
                </a:solidFill>
                <a:latin typeface="Poppins"/>
                <a:ea typeface="Poppins"/>
                <a:cs typeface="Poppins"/>
                <a:sym typeface="Poppins"/>
              </a:rPr>
              <a:t>DECEMBER 2030</a:t>
            </a:r>
          </a:p>
        </p:txBody>
      </p:sp>
      <p:sp>
        <p:nvSpPr>
          <p:cNvPr name="TextBox 7" id="7"/>
          <p:cNvSpPr txBox="true"/>
          <p:nvPr/>
        </p:nvSpPr>
        <p:spPr>
          <a:xfrm rot="0">
            <a:off x="13294529" y="8114719"/>
            <a:ext cx="2421721" cy="264795"/>
          </a:xfrm>
          <a:prstGeom prst="rect">
            <a:avLst/>
          </a:prstGeom>
        </p:spPr>
        <p:txBody>
          <a:bodyPr anchor="t" rtlCol="false" tIns="0" lIns="0" bIns="0" rIns="0">
            <a:spAutoFit/>
          </a:bodyPr>
          <a:lstStyle/>
          <a:p>
            <a:pPr algn="r">
              <a:lnSpc>
                <a:spcPts val="1800"/>
              </a:lnSpc>
            </a:pPr>
            <a:r>
              <a:rPr lang="en-US" sz="1800">
                <a:solidFill>
                  <a:srgbClr val="FFFFFF"/>
                </a:solidFill>
                <a:latin typeface="Poppins Light"/>
                <a:ea typeface="Poppins Light"/>
                <a:cs typeface="Poppins Light"/>
                <a:sym typeface="Poppins Light"/>
              </a:rPr>
              <a:t>reallygreatsite.com</a:t>
            </a:r>
          </a:p>
        </p:txBody>
      </p:sp>
      <p:grpSp>
        <p:nvGrpSpPr>
          <p:cNvPr name="Group 8" id="8"/>
          <p:cNvGrpSpPr/>
          <p:nvPr/>
        </p:nvGrpSpPr>
        <p:grpSpPr>
          <a:xfrm rot="0">
            <a:off x="15345378" y="1905000"/>
            <a:ext cx="370872" cy="384751"/>
            <a:chOff x="0" y="0"/>
            <a:chExt cx="494495" cy="513001"/>
          </a:xfrm>
        </p:grpSpPr>
        <p:sp>
          <p:nvSpPr>
            <p:cNvPr name="AutoShape 9" id="9"/>
            <p:cNvSpPr/>
            <p:nvPr/>
          </p:nvSpPr>
          <p:spPr>
            <a:xfrm>
              <a:off x="13740" y="19050"/>
              <a:ext cx="480755" cy="0"/>
            </a:xfrm>
            <a:prstGeom prst="line">
              <a:avLst/>
            </a:prstGeom>
            <a:ln cap="flat" w="38100">
              <a:solidFill>
                <a:srgbClr val="FFFFFF"/>
              </a:solidFill>
              <a:prstDash val="solid"/>
              <a:headEnd type="none" len="sm" w="sm"/>
              <a:tailEnd type="none" len="sm" w="sm"/>
            </a:ln>
          </p:spPr>
        </p:sp>
        <p:sp>
          <p:nvSpPr>
            <p:cNvPr name="AutoShape 10" id="10"/>
            <p:cNvSpPr/>
            <p:nvPr/>
          </p:nvSpPr>
          <p:spPr>
            <a:xfrm flipV="true">
              <a:off x="475445" y="19050"/>
              <a:ext cx="0" cy="480755"/>
            </a:xfrm>
            <a:prstGeom prst="line">
              <a:avLst/>
            </a:prstGeom>
            <a:ln cap="flat" w="38100">
              <a:solidFill>
                <a:srgbClr val="FFFFFF"/>
              </a:solidFill>
              <a:prstDash val="solid"/>
              <a:headEnd type="none" len="sm" w="sm"/>
              <a:tailEnd type="none" len="sm" w="sm"/>
            </a:ln>
          </p:spPr>
        </p:sp>
        <p:sp>
          <p:nvSpPr>
            <p:cNvPr name="AutoShape 11" id="11"/>
            <p:cNvSpPr/>
            <p:nvPr/>
          </p:nvSpPr>
          <p:spPr>
            <a:xfrm flipV="true">
              <a:off x="13740" y="19050"/>
              <a:ext cx="461705" cy="480755"/>
            </a:xfrm>
            <a:prstGeom prst="line">
              <a:avLst/>
            </a:prstGeom>
            <a:ln cap="flat" w="38100">
              <a:solidFill>
                <a:srgbClr val="FFFFFF"/>
              </a:solidFill>
              <a:prstDash val="solid"/>
              <a:headEnd type="none" len="sm" w="sm"/>
              <a:tailEnd type="none" len="sm" w="sm"/>
            </a:ln>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3" id="3"/>
          <p:cNvGrpSpPr/>
          <p:nvPr/>
        </p:nvGrpSpPr>
        <p:grpSpPr>
          <a:xfrm rot="0">
            <a:off x="4610278" y="0"/>
            <a:ext cx="3876497" cy="10287000"/>
            <a:chOff x="0" y="0"/>
            <a:chExt cx="1020970" cy="2709333"/>
          </a:xfrm>
        </p:grpSpPr>
        <p:sp>
          <p:nvSpPr>
            <p:cNvPr name="Freeform 4" id="4"/>
            <p:cNvSpPr/>
            <p:nvPr/>
          </p:nvSpPr>
          <p:spPr>
            <a:xfrm flipH="false" flipV="false" rot="0">
              <a:off x="0" y="0"/>
              <a:ext cx="1020970" cy="2709333"/>
            </a:xfrm>
            <a:custGeom>
              <a:avLst/>
              <a:gdLst/>
              <a:ahLst/>
              <a:cxnLst/>
              <a:rect r="r" b="b" t="t" l="l"/>
              <a:pathLst>
                <a:path h="2709333" w="1020970">
                  <a:moveTo>
                    <a:pt x="0" y="0"/>
                  </a:moveTo>
                  <a:lnTo>
                    <a:pt x="1020970" y="0"/>
                  </a:lnTo>
                  <a:lnTo>
                    <a:pt x="1020970" y="2709333"/>
                  </a:lnTo>
                  <a:lnTo>
                    <a:pt x="0" y="2709333"/>
                  </a:lnTo>
                  <a:close/>
                </a:path>
              </a:pathLst>
            </a:custGeom>
            <a:gradFill rotWithShape="true">
              <a:gsLst>
                <a:gs pos="0">
                  <a:srgbClr val="000000">
                    <a:alpha val="0"/>
                  </a:srgbClr>
                </a:gs>
                <a:gs pos="50000">
                  <a:srgbClr val="000000">
                    <a:alpha val="48500"/>
                  </a:srgbClr>
                </a:gs>
                <a:gs pos="100000">
                  <a:srgbClr val="000000">
                    <a:alpha val="100000"/>
                  </a:srgbClr>
                </a:gs>
              </a:gsLst>
              <a:lin ang="0"/>
            </a:gradFill>
          </p:spPr>
        </p:sp>
        <p:sp>
          <p:nvSpPr>
            <p:cNvPr name="TextBox 5" id="5"/>
            <p:cNvSpPr txBox="true"/>
            <p:nvPr/>
          </p:nvSpPr>
          <p:spPr>
            <a:xfrm>
              <a:off x="0" y="9525"/>
              <a:ext cx="1020970" cy="2699808"/>
            </a:xfrm>
            <a:prstGeom prst="rect">
              <a:avLst/>
            </a:prstGeom>
          </p:spPr>
          <p:txBody>
            <a:bodyPr anchor="ctr" rtlCol="false" tIns="50800" lIns="50800" bIns="50800" rIns="50800"/>
            <a:lstStyle/>
            <a:p>
              <a:pPr algn="ctr">
                <a:lnSpc>
                  <a:spcPts val="1800"/>
                </a:lnSpc>
              </a:pPr>
            </a:p>
          </p:txBody>
        </p:sp>
      </p:grpSp>
      <p:sp>
        <p:nvSpPr>
          <p:cNvPr name="Freeform 6" id="6"/>
          <p:cNvSpPr/>
          <p:nvPr/>
        </p:nvSpPr>
        <p:spPr>
          <a:xfrm flipH="true" flipV="false" rot="0">
            <a:off x="7881015" y="-1112315"/>
            <a:ext cx="16230600" cy="6881774"/>
          </a:xfrm>
          <a:custGeom>
            <a:avLst/>
            <a:gdLst/>
            <a:ahLst/>
            <a:cxnLst/>
            <a:rect r="r" b="b" t="t" l="l"/>
            <a:pathLst>
              <a:path h="6881774" w="16230600">
                <a:moveTo>
                  <a:pt x="16230600" y="0"/>
                </a:moveTo>
                <a:lnTo>
                  <a:pt x="0" y="0"/>
                </a:lnTo>
                <a:lnTo>
                  <a:pt x="0" y="6881774"/>
                </a:lnTo>
                <a:lnTo>
                  <a:pt x="16230600" y="6881774"/>
                </a:lnTo>
                <a:lnTo>
                  <a:pt x="16230600" y="0"/>
                </a:lnTo>
                <a:close/>
              </a:path>
            </a:pathLst>
          </a:custGeom>
          <a:blipFill>
            <a:blip r:embed="rId3">
              <a:alphaModFix amt="60000"/>
            </a:blip>
            <a:stretch>
              <a:fillRect l="0" t="0" r="0" b="0"/>
            </a:stretch>
          </a:blipFill>
        </p:spPr>
      </p:sp>
      <p:sp>
        <p:nvSpPr>
          <p:cNvPr name="AutoShape 7" id="7"/>
          <p:cNvSpPr/>
          <p:nvPr/>
        </p:nvSpPr>
        <p:spPr>
          <a:xfrm>
            <a:off x="9810750" y="2866444"/>
            <a:ext cx="567898" cy="0"/>
          </a:xfrm>
          <a:prstGeom prst="line">
            <a:avLst/>
          </a:prstGeom>
          <a:ln cap="flat" w="38100">
            <a:solidFill>
              <a:srgbClr val="D2B99A"/>
            </a:solidFill>
            <a:prstDash val="solid"/>
            <a:headEnd type="none" len="sm" w="sm"/>
            <a:tailEnd type="none" len="sm" w="sm"/>
          </a:ln>
        </p:spPr>
      </p:sp>
      <p:sp>
        <p:nvSpPr>
          <p:cNvPr name="TextBox 8" id="8"/>
          <p:cNvSpPr txBox="true"/>
          <p:nvPr/>
        </p:nvSpPr>
        <p:spPr>
          <a:xfrm rot="0">
            <a:off x="9810750" y="1952625"/>
            <a:ext cx="5905500" cy="799519"/>
          </a:xfrm>
          <a:prstGeom prst="rect">
            <a:avLst/>
          </a:prstGeom>
        </p:spPr>
        <p:txBody>
          <a:bodyPr anchor="t" rtlCol="false" tIns="0" lIns="0" bIns="0" rIns="0">
            <a:spAutoFit/>
          </a:bodyPr>
          <a:lstStyle/>
          <a:p>
            <a:pPr algn="l">
              <a:lnSpc>
                <a:spcPts val="5600"/>
              </a:lnSpc>
            </a:pPr>
            <a:r>
              <a:rPr lang="en-US" sz="5600">
                <a:solidFill>
                  <a:srgbClr val="FFFFFF"/>
                </a:solidFill>
                <a:latin typeface="Poppins Light"/>
                <a:ea typeface="Poppins Light"/>
                <a:cs typeface="Poppins Light"/>
                <a:sym typeface="Poppins Light"/>
              </a:rPr>
              <a:t>INTRODUCTION</a:t>
            </a:r>
          </a:p>
        </p:txBody>
      </p:sp>
      <p:sp>
        <p:nvSpPr>
          <p:cNvPr name="TextBox 9" id="9"/>
          <p:cNvSpPr txBox="true"/>
          <p:nvPr/>
        </p:nvSpPr>
        <p:spPr>
          <a:xfrm rot="0">
            <a:off x="9810750" y="3973480"/>
            <a:ext cx="5905500" cy="1118397"/>
          </a:xfrm>
          <a:prstGeom prst="rect">
            <a:avLst/>
          </a:prstGeom>
        </p:spPr>
        <p:txBody>
          <a:bodyPr anchor="t" rtlCol="false" tIns="0" lIns="0" bIns="0" rIns="0">
            <a:spAutoFit/>
          </a:bodyPr>
          <a:lstStyle/>
          <a:p>
            <a:pPr algn="l">
              <a:lnSpc>
                <a:spcPts val="2940"/>
              </a:lnSpc>
            </a:pPr>
            <a:r>
              <a:rPr lang="en-US" sz="2100">
                <a:solidFill>
                  <a:srgbClr val="FFFFFF"/>
                </a:solidFill>
                <a:latin typeface="Poppins"/>
                <a:ea typeface="Poppins"/>
                <a:cs typeface="Poppins"/>
                <a:sym typeface="Poppins"/>
              </a:rPr>
              <a:t>We focus on providing innovative solutions to meet client needs and improve their businesses.</a:t>
            </a:r>
          </a:p>
        </p:txBody>
      </p:sp>
      <p:sp>
        <p:nvSpPr>
          <p:cNvPr name="TextBox 10" id="10"/>
          <p:cNvSpPr txBox="true"/>
          <p:nvPr/>
        </p:nvSpPr>
        <p:spPr>
          <a:xfrm rot="0">
            <a:off x="9810750" y="5425253"/>
            <a:ext cx="5905500" cy="2217218"/>
          </a:xfrm>
          <a:prstGeom prst="rect">
            <a:avLst/>
          </a:prstGeom>
        </p:spPr>
        <p:txBody>
          <a:bodyPr anchor="t" rtlCol="false" tIns="0" lIns="0" bIns="0" rIns="0">
            <a:spAutoFit/>
          </a:bodyPr>
          <a:lstStyle/>
          <a:p>
            <a:pPr algn="l">
              <a:lnSpc>
                <a:spcPts val="2239"/>
              </a:lnSpc>
            </a:pPr>
            <a:r>
              <a:rPr lang="en-US" sz="1599">
                <a:solidFill>
                  <a:srgbClr val="C3C5C6"/>
                </a:solidFill>
                <a:latin typeface="Poppins Light"/>
                <a:ea typeface="Poppins Light"/>
                <a:cs typeface="Poppins Light"/>
                <a:sym typeface="Poppins Light"/>
              </a:rPr>
              <a:t>With a passionate team of experts in various fields, we pride ourselves on our commitment to quality, integrity, and customer satisfaction. Our mission is to drive success through creativity and technology, offering a diverse range of products and services tailored to your unique challenges. Join us on our journey as we strive to make a positive impact in the industry and beyond. Thank you for considering us as your partner!</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2169819" y="-2496048"/>
            <a:ext cx="21842778" cy="9261338"/>
          </a:xfrm>
          <a:custGeom>
            <a:avLst/>
            <a:gdLst/>
            <a:ahLst/>
            <a:cxnLst/>
            <a:rect r="r" b="b" t="t" l="l"/>
            <a:pathLst>
              <a:path h="9261338" w="21842778">
                <a:moveTo>
                  <a:pt x="0" y="0"/>
                </a:moveTo>
                <a:lnTo>
                  <a:pt x="21842778" y="0"/>
                </a:lnTo>
                <a:lnTo>
                  <a:pt x="21842778" y="9261338"/>
                </a:lnTo>
                <a:lnTo>
                  <a:pt x="0" y="9261338"/>
                </a:lnTo>
                <a:lnTo>
                  <a:pt x="0" y="0"/>
                </a:lnTo>
                <a:close/>
              </a:path>
            </a:pathLst>
          </a:custGeom>
          <a:blipFill>
            <a:blip r:embed="rId2">
              <a:alphaModFix amt="60000"/>
            </a:blip>
            <a:stretch>
              <a:fillRect l="0" t="0" r="0" b="0"/>
            </a:stretch>
          </a:blipFill>
        </p:spPr>
      </p:sp>
      <p:sp>
        <p:nvSpPr>
          <p:cNvPr name="AutoShape 3" id="3"/>
          <p:cNvSpPr/>
          <p:nvPr/>
        </p:nvSpPr>
        <p:spPr>
          <a:xfrm>
            <a:off x="2571750" y="2866444"/>
            <a:ext cx="567898" cy="0"/>
          </a:xfrm>
          <a:prstGeom prst="line">
            <a:avLst/>
          </a:prstGeom>
          <a:ln cap="flat" w="38100">
            <a:solidFill>
              <a:srgbClr val="D2B99A"/>
            </a:solidFill>
            <a:prstDash val="solid"/>
            <a:headEnd type="none" len="sm" w="sm"/>
            <a:tailEnd type="none" len="sm" w="sm"/>
          </a:ln>
        </p:spPr>
      </p:sp>
      <p:sp>
        <p:nvSpPr>
          <p:cNvPr name="Freeform 4" id="4"/>
          <p:cNvSpPr/>
          <p:nvPr/>
        </p:nvSpPr>
        <p:spPr>
          <a:xfrm flipH="false" flipV="false" rot="0">
            <a:off x="2571750" y="4567002"/>
            <a:ext cx="797933" cy="643808"/>
          </a:xfrm>
          <a:custGeom>
            <a:avLst/>
            <a:gdLst/>
            <a:ahLst/>
            <a:cxnLst/>
            <a:rect r="r" b="b" t="t" l="l"/>
            <a:pathLst>
              <a:path h="643808" w="797933">
                <a:moveTo>
                  <a:pt x="0" y="0"/>
                </a:moveTo>
                <a:lnTo>
                  <a:pt x="797933" y="0"/>
                </a:lnTo>
                <a:lnTo>
                  <a:pt x="797933" y="643808"/>
                </a:lnTo>
                <a:lnTo>
                  <a:pt x="0" y="6438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7176135" y="4567002"/>
            <a:ext cx="747034" cy="643808"/>
          </a:xfrm>
          <a:custGeom>
            <a:avLst/>
            <a:gdLst/>
            <a:ahLst/>
            <a:cxnLst/>
            <a:rect r="r" b="b" t="t" l="l"/>
            <a:pathLst>
              <a:path h="643808" w="747034">
                <a:moveTo>
                  <a:pt x="0" y="0"/>
                </a:moveTo>
                <a:lnTo>
                  <a:pt x="747034" y="0"/>
                </a:lnTo>
                <a:lnTo>
                  <a:pt x="747034" y="643808"/>
                </a:lnTo>
                <a:lnTo>
                  <a:pt x="0" y="64380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1778615" y="4567002"/>
            <a:ext cx="804706" cy="643808"/>
          </a:xfrm>
          <a:custGeom>
            <a:avLst/>
            <a:gdLst/>
            <a:ahLst/>
            <a:cxnLst/>
            <a:rect r="r" b="b" t="t" l="l"/>
            <a:pathLst>
              <a:path h="643808" w="804706">
                <a:moveTo>
                  <a:pt x="0" y="0"/>
                </a:moveTo>
                <a:lnTo>
                  <a:pt x="804706" y="0"/>
                </a:lnTo>
                <a:lnTo>
                  <a:pt x="804706" y="643808"/>
                </a:lnTo>
                <a:lnTo>
                  <a:pt x="0" y="64380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7" id="7"/>
          <p:cNvSpPr txBox="true"/>
          <p:nvPr/>
        </p:nvSpPr>
        <p:spPr>
          <a:xfrm rot="0">
            <a:off x="2571750" y="1952625"/>
            <a:ext cx="5905500" cy="799465"/>
          </a:xfrm>
          <a:prstGeom prst="rect">
            <a:avLst/>
          </a:prstGeom>
        </p:spPr>
        <p:txBody>
          <a:bodyPr anchor="t" rtlCol="false" tIns="0" lIns="0" bIns="0" rIns="0">
            <a:spAutoFit/>
          </a:bodyPr>
          <a:lstStyle/>
          <a:p>
            <a:pPr algn="l">
              <a:lnSpc>
                <a:spcPts val="5600"/>
              </a:lnSpc>
            </a:pPr>
            <a:r>
              <a:rPr lang="en-US" sz="5600">
                <a:solidFill>
                  <a:srgbClr val="FFFFFF"/>
                </a:solidFill>
                <a:latin typeface="Poppins Light"/>
                <a:ea typeface="Poppins Light"/>
                <a:cs typeface="Poppins Light"/>
                <a:sym typeface="Poppins Light"/>
              </a:rPr>
              <a:t>OBJECTIVES</a:t>
            </a:r>
          </a:p>
        </p:txBody>
      </p:sp>
      <p:sp>
        <p:nvSpPr>
          <p:cNvPr name="TextBox 8" id="8"/>
          <p:cNvSpPr txBox="true"/>
          <p:nvPr/>
        </p:nvSpPr>
        <p:spPr>
          <a:xfrm rot="0">
            <a:off x="2571750" y="6010910"/>
            <a:ext cx="3937635" cy="375285"/>
          </a:xfrm>
          <a:prstGeom prst="rect">
            <a:avLst/>
          </a:prstGeom>
        </p:spPr>
        <p:txBody>
          <a:bodyPr anchor="t" rtlCol="false" tIns="0" lIns="0" bIns="0" rIns="0">
            <a:spAutoFit/>
          </a:bodyPr>
          <a:lstStyle/>
          <a:p>
            <a:pPr algn="l">
              <a:lnSpc>
                <a:spcPts val="2940"/>
              </a:lnSpc>
            </a:pPr>
            <a:r>
              <a:rPr lang="en-US" sz="2100">
                <a:solidFill>
                  <a:srgbClr val="FFFFFF"/>
                </a:solidFill>
                <a:latin typeface="Poppins"/>
                <a:ea typeface="Poppins"/>
                <a:cs typeface="Poppins"/>
                <a:sym typeface="Poppins"/>
              </a:rPr>
              <a:t>Increase Revenue</a:t>
            </a:r>
          </a:p>
        </p:txBody>
      </p:sp>
      <p:sp>
        <p:nvSpPr>
          <p:cNvPr name="TextBox 9" id="9"/>
          <p:cNvSpPr txBox="true"/>
          <p:nvPr/>
        </p:nvSpPr>
        <p:spPr>
          <a:xfrm rot="0">
            <a:off x="7176135" y="6010910"/>
            <a:ext cx="3937635" cy="375285"/>
          </a:xfrm>
          <a:prstGeom prst="rect">
            <a:avLst/>
          </a:prstGeom>
        </p:spPr>
        <p:txBody>
          <a:bodyPr anchor="t" rtlCol="false" tIns="0" lIns="0" bIns="0" rIns="0">
            <a:spAutoFit/>
          </a:bodyPr>
          <a:lstStyle/>
          <a:p>
            <a:pPr algn="l">
              <a:lnSpc>
                <a:spcPts val="2940"/>
              </a:lnSpc>
            </a:pPr>
            <a:r>
              <a:rPr lang="en-US" sz="2100">
                <a:solidFill>
                  <a:srgbClr val="FFFFFF"/>
                </a:solidFill>
                <a:latin typeface="Poppins"/>
                <a:ea typeface="Poppins"/>
                <a:cs typeface="Poppins"/>
                <a:sym typeface="Poppins"/>
              </a:rPr>
              <a:t>Customer Satisfaction</a:t>
            </a:r>
          </a:p>
        </p:txBody>
      </p:sp>
      <p:sp>
        <p:nvSpPr>
          <p:cNvPr name="TextBox 10" id="10"/>
          <p:cNvSpPr txBox="true"/>
          <p:nvPr/>
        </p:nvSpPr>
        <p:spPr>
          <a:xfrm rot="0">
            <a:off x="11778615" y="6010910"/>
            <a:ext cx="3937635" cy="375285"/>
          </a:xfrm>
          <a:prstGeom prst="rect">
            <a:avLst/>
          </a:prstGeom>
        </p:spPr>
        <p:txBody>
          <a:bodyPr anchor="t" rtlCol="false" tIns="0" lIns="0" bIns="0" rIns="0">
            <a:spAutoFit/>
          </a:bodyPr>
          <a:lstStyle/>
          <a:p>
            <a:pPr algn="l">
              <a:lnSpc>
                <a:spcPts val="2940"/>
              </a:lnSpc>
            </a:pPr>
            <a:r>
              <a:rPr lang="en-US" sz="2100">
                <a:solidFill>
                  <a:srgbClr val="FFFFFF"/>
                </a:solidFill>
                <a:latin typeface="Poppins"/>
                <a:ea typeface="Poppins"/>
                <a:cs typeface="Poppins"/>
                <a:sym typeface="Poppins"/>
              </a:rPr>
              <a:t>Operational Efficiency</a:t>
            </a:r>
          </a:p>
        </p:txBody>
      </p:sp>
      <p:sp>
        <p:nvSpPr>
          <p:cNvPr name="TextBox 11" id="11"/>
          <p:cNvSpPr txBox="true"/>
          <p:nvPr/>
        </p:nvSpPr>
        <p:spPr>
          <a:xfrm rot="0">
            <a:off x="2571750" y="6717665"/>
            <a:ext cx="3937635" cy="1388110"/>
          </a:xfrm>
          <a:prstGeom prst="rect">
            <a:avLst/>
          </a:prstGeom>
        </p:spPr>
        <p:txBody>
          <a:bodyPr anchor="t" rtlCol="false" tIns="0" lIns="0" bIns="0" rIns="0">
            <a:spAutoFit/>
          </a:bodyPr>
          <a:lstStyle/>
          <a:p>
            <a:pPr algn="l">
              <a:lnSpc>
                <a:spcPts val="2239"/>
              </a:lnSpc>
            </a:pPr>
            <a:r>
              <a:rPr lang="en-US" sz="1599">
                <a:solidFill>
                  <a:srgbClr val="C3C5C6"/>
                </a:solidFill>
                <a:latin typeface="Poppins Light"/>
                <a:ea typeface="Poppins Light"/>
                <a:cs typeface="Poppins Light"/>
                <a:sym typeface="Poppins Light"/>
              </a:rPr>
              <a:t>Achieve a 15% growth in sales within the next fiscal year by expanding our customer base, enhancing marketing strategies, and optimizing product offerings.</a:t>
            </a:r>
          </a:p>
        </p:txBody>
      </p:sp>
      <p:sp>
        <p:nvSpPr>
          <p:cNvPr name="TextBox 12" id="12"/>
          <p:cNvSpPr txBox="true"/>
          <p:nvPr/>
        </p:nvSpPr>
        <p:spPr>
          <a:xfrm rot="0">
            <a:off x="7176135" y="6717665"/>
            <a:ext cx="3937635" cy="1664335"/>
          </a:xfrm>
          <a:prstGeom prst="rect">
            <a:avLst/>
          </a:prstGeom>
        </p:spPr>
        <p:txBody>
          <a:bodyPr anchor="t" rtlCol="false" tIns="0" lIns="0" bIns="0" rIns="0">
            <a:spAutoFit/>
          </a:bodyPr>
          <a:lstStyle/>
          <a:p>
            <a:pPr algn="l">
              <a:lnSpc>
                <a:spcPts val="2239"/>
              </a:lnSpc>
            </a:pPr>
            <a:r>
              <a:rPr lang="en-US" sz="1599">
                <a:solidFill>
                  <a:srgbClr val="C3C5C6"/>
                </a:solidFill>
                <a:latin typeface="Poppins Light"/>
                <a:ea typeface="Poppins Light"/>
                <a:cs typeface="Poppins Light"/>
                <a:sym typeface="Poppins Light"/>
              </a:rPr>
              <a:t>Attain a customer satisfaction rate of 90% or higher by implementing a comprehensive feedback system, training staff in customer service excellence, and addressing customer concerns promptly.</a:t>
            </a:r>
          </a:p>
        </p:txBody>
      </p:sp>
      <p:sp>
        <p:nvSpPr>
          <p:cNvPr name="TextBox 13" id="13"/>
          <p:cNvSpPr txBox="true"/>
          <p:nvPr/>
        </p:nvSpPr>
        <p:spPr>
          <a:xfrm rot="0">
            <a:off x="11778615" y="6717665"/>
            <a:ext cx="3937635" cy="1388110"/>
          </a:xfrm>
          <a:prstGeom prst="rect">
            <a:avLst/>
          </a:prstGeom>
        </p:spPr>
        <p:txBody>
          <a:bodyPr anchor="t" rtlCol="false" tIns="0" lIns="0" bIns="0" rIns="0">
            <a:spAutoFit/>
          </a:bodyPr>
          <a:lstStyle/>
          <a:p>
            <a:pPr algn="l">
              <a:lnSpc>
                <a:spcPts val="2239"/>
              </a:lnSpc>
            </a:pPr>
            <a:r>
              <a:rPr lang="en-US" sz="1599">
                <a:solidFill>
                  <a:srgbClr val="C3C5C6"/>
                </a:solidFill>
                <a:latin typeface="Poppins Light"/>
                <a:ea typeface="Poppins Light"/>
                <a:cs typeface="Poppins Light"/>
                <a:sym typeface="Poppins Light"/>
              </a:rPr>
              <a:t>Streamline business processes to reduce operational costs by 10% over the next year by adopting new technologies, refining workflows, and eliminating redundancies.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666750" y="627888"/>
            <a:ext cx="18288000" cy="7754112"/>
          </a:xfrm>
          <a:custGeom>
            <a:avLst/>
            <a:gdLst/>
            <a:ahLst/>
            <a:cxnLst/>
            <a:rect r="r" b="b" t="t" l="l"/>
            <a:pathLst>
              <a:path h="7754112" w="18288000">
                <a:moveTo>
                  <a:pt x="0" y="0"/>
                </a:moveTo>
                <a:lnTo>
                  <a:pt x="18288000" y="0"/>
                </a:lnTo>
                <a:lnTo>
                  <a:pt x="18288000" y="7754112"/>
                </a:lnTo>
                <a:lnTo>
                  <a:pt x="0" y="7754112"/>
                </a:lnTo>
                <a:lnTo>
                  <a:pt x="0" y="0"/>
                </a:lnTo>
                <a:close/>
              </a:path>
            </a:pathLst>
          </a:custGeom>
          <a:blipFill>
            <a:blip r:embed="rId2">
              <a:alphaModFix amt="60000"/>
            </a:blip>
            <a:stretch>
              <a:fillRect l="0" t="0" r="0" b="0"/>
            </a:stretch>
          </a:blipFill>
        </p:spPr>
      </p:sp>
      <p:sp>
        <p:nvSpPr>
          <p:cNvPr name="AutoShape 3" id="3"/>
          <p:cNvSpPr/>
          <p:nvPr/>
        </p:nvSpPr>
        <p:spPr>
          <a:xfrm>
            <a:off x="9810750" y="2866444"/>
            <a:ext cx="567898" cy="0"/>
          </a:xfrm>
          <a:prstGeom prst="line">
            <a:avLst/>
          </a:prstGeom>
          <a:ln cap="flat" w="38100">
            <a:solidFill>
              <a:srgbClr val="D2B99A"/>
            </a:solidFill>
            <a:prstDash val="solid"/>
            <a:headEnd type="none" len="sm" w="sm"/>
            <a:tailEnd type="none" len="sm" w="sm"/>
          </a:ln>
        </p:spPr>
      </p:sp>
      <p:sp>
        <p:nvSpPr>
          <p:cNvPr name="AutoShape 4" id="4"/>
          <p:cNvSpPr/>
          <p:nvPr/>
        </p:nvSpPr>
        <p:spPr>
          <a:xfrm flipV="true">
            <a:off x="2836216" y="3112049"/>
            <a:ext cx="0" cy="1789062"/>
          </a:xfrm>
          <a:prstGeom prst="line">
            <a:avLst/>
          </a:prstGeom>
          <a:ln cap="flat" w="9525">
            <a:solidFill>
              <a:srgbClr val="C3C5C6"/>
            </a:solidFill>
            <a:prstDash val="solid"/>
            <a:headEnd type="none" len="sm" w="sm"/>
            <a:tailEnd type="none" len="sm" w="sm"/>
          </a:ln>
        </p:spPr>
      </p:sp>
      <p:sp>
        <p:nvSpPr>
          <p:cNvPr name="AutoShape 5" id="5"/>
          <p:cNvSpPr/>
          <p:nvPr/>
        </p:nvSpPr>
        <p:spPr>
          <a:xfrm flipV="true">
            <a:off x="2836216" y="6773068"/>
            <a:ext cx="0" cy="3513932"/>
          </a:xfrm>
          <a:prstGeom prst="line">
            <a:avLst/>
          </a:prstGeom>
          <a:ln cap="flat" w="9525">
            <a:solidFill>
              <a:srgbClr val="C3C5C6"/>
            </a:solidFill>
            <a:prstDash val="solid"/>
            <a:headEnd type="none" len="sm" w="sm"/>
            <a:tailEnd type="none" len="sm" w="sm"/>
          </a:ln>
        </p:spPr>
      </p:sp>
      <p:sp>
        <p:nvSpPr>
          <p:cNvPr name="Freeform 6" id="6"/>
          <p:cNvSpPr/>
          <p:nvPr/>
        </p:nvSpPr>
        <p:spPr>
          <a:xfrm flipH="false" flipV="false" rot="0">
            <a:off x="2571750" y="1905000"/>
            <a:ext cx="538456" cy="538456"/>
          </a:xfrm>
          <a:custGeom>
            <a:avLst/>
            <a:gdLst/>
            <a:ahLst/>
            <a:cxnLst/>
            <a:rect r="r" b="b" t="t" l="l"/>
            <a:pathLst>
              <a:path h="538456" w="538456">
                <a:moveTo>
                  <a:pt x="0" y="0"/>
                </a:moveTo>
                <a:lnTo>
                  <a:pt x="538456" y="0"/>
                </a:lnTo>
                <a:lnTo>
                  <a:pt x="538456" y="538456"/>
                </a:lnTo>
                <a:lnTo>
                  <a:pt x="0" y="5384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2585456" y="5567861"/>
            <a:ext cx="524750" cy="538456"/>
          </a:xfrm>
          <a:custGeom>
            <a:avLst/>
            <a:gdLst/>
            <a:ahLst/>
            <a:cxnLst/>
            <a:rect r="r" b="b" t="t" l="l"/>
            <a:pathLst>
              <a:path h="538456" w="524750">
                <a:moveTo>
                  <a:pt x="0" y="0"/>
                </a:moveTo>
                <a:lnTo>
                  <a:pt x="524750" y="0"/>
                </a:lnTo>
                <a:lnTo>
                  <a:pt x="524750" y="538457"/>
                </a:lnTo>
                <a:lnTo>
                  <a:pt x="0" y="53845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9810750" y="1952625"/>
            <a:ext cx="5905500" cy="799465"/>
          </a:xfrm>
          <a:prstGeom prst="rect">
            <a:avLst/>
          </a:prstGeom>
        </p:spPr>
        <p:txBody>
          <a:bodyPr anchor="t" rtlCol="false" tIns="0" lIns="0" bIns="0" rIns="0">
            <a:spAutoFit/>
          </a:bodyPr>
          <a:lstStyle/>
          <a:p>
            <a:pPr algn="l">
              <a:lnSpc>
                <a:spcPts val="5600"/>
              </a:lnSpc>
            </a:pPr>
            <a:r>
              <a:rPr lang="en-US" sz="5600">
                <a:solidFill>
                  <a:srgbClr val="FFFFFF"/>
                </a:solidFill>
                <a:latin typeface="Poppins Light"/>
                <a:ea typeface="Poppins Light"/>
                <a:cs typeface="Poppins Light"/>
                <a:sym typeface="Poppins Light"/>
              </a:rPr>
              <a:t>TIMELINE</a:t>
            </a:r>
          </a:p>
        </p:txBody>
      </p:sp>
      <p:sp>
        <p:nvSpPr>
          <p:cNvPr name="TextBox 9" id="9"/>
          <p:cNvSpPr txBox="true"/>
          <p:nvPr/>
        </p:nvSpPr>
        <p:spPr>
          <a:xfrm rot="0">
            <a:off x="9810750" y="3612766"/>
            <a:ext cx="3937635" cy="375285"/>
          </a:xfrm>
          <a:prstGeom prst="rect">
            <a:avLst/>
          </a:prstGeom>
        </p:spPr>
        <p:txBody>
          <a:bodyPr anchor="t" rtlCol="false" tIns="0" lIns="0" bIns="0" rIns="0">
            <a:spAutoFit/>
          </a:bodyPr>
          <a:lstStyle/>
          <a:p>
            <a:pPr algn="l">
              <a:lnSpc>
                <a:spcPts val="2940"/>
              </a:lnSpc>
            </a:pPr>
            <a:r>
              <a:rPr lang="en-US" sz="2100">
                <a:solidFill>
                  <a:srgbClr val="FFFFFF"/>
                </a:solidFill>
                <a:latin typeface="Poppins"/>
                <a:ea typeface="Poppins"/>
                <a:cs typeface="Poppins"/>
                <a:sym typeface="Poppins"/>
              </a:rPr>
              <a:t>Project Timeline</a:t>
            </a:r>
          </a:p>
        </p:txBody>
      </p:sp>
      <p:sp>
        <p:nvSpPr>
          <p:cNvPr name="TextBox 10" id="10"/>
          <p:cNvSpPr txBox="true"/>
          <p:nvPr/>
        </p:nvSpPr>
        <p:spPr>
          <a:xfrm rot="0">
            <a:off x="4294294" y="1847850"/>
            <a:ext cx="3067243" cy="375285"/>
          </a:xfrm>
          <a:prstGeom prst="rect">
            <a:avLst/>
          </a:prstGeom>
        </p:spPr>
        <p:txBody>
          <a:bodyPr anchor="t" rtlCol="false" tIns="0" lIns="0" bIns="0" rIns="0">
            <a:spAutoFit/>
          </a:bodyPr>
          <a:lstStyle/>
          <a:p>
            <a:pPr algn="l">
              <a:lnSpc>
                <a:spcPts val="2940"/>
              </a:lnSpc>
            </a:pPr>
            <a:r>
              <a:rPr lang="en-US" sz="2100" spc="126">
                <a:solidFill>
                  <a:srgbClr val="FFFFFF"/>
                </a:solidFill>
                <a:latin typeface="Poppins"/>
                <a:ea typeface="Poppins"/>
                <a:cs typeface="Poppins"/>
                <a:sym typeface="Poppins"/>
              </a:rPr>
              <a:t>RESEARCH</a:t>
            </a:r>
          </a:p>
        </p:txBody>
      </p:sp>
      <p:sp>
        <p:nvSpPr>
          <p:cNvPr name="TextBox 11" id="11"/>
          <p:cNvSpPr txBox="true"/>
          <p:nvPr/>
        </p:nvSpPr>
        <p:spPr>
          <a:xfrm rot="0">
            <a:off x="4294294" y="5620872"/>
            <a:ext cx="3067243" cy="375285"/>
          </a:xfrm>
          <a:prstGeom prst="rect">
            <a:avLst/>
          </a:prstGeom>
        </p:spPr>
        <p:txBody>
          <a:bodyPr anchor="t" rtlCol="false" tIns="0" lIns="0" bIns="0" rIns="0">
            <a:spAutoFit/>
          </a:bodyPr>
          <a:lstStyle/>
          <a:p>
            <a:pPr algn="l">
              <a:lnSpc>
                <a:spcPts val="2940"/>
              </a:lnSpc>
            </a:pPr>
            <a:r>
              <a:rPr lang="en-US" sz="2100" spc="126">
                <a:solidFill>
                  <a:srgbClr val="FFFFFF"/>
                </a:solidFill>
                <a:latin typeface="Poppins"/>
                <a:ea typeface="Poppins"/>
                <a:cs typeface="Poppins"/>
                <a:sym typeface="Poppins"/>
              </a:rPr>
              <a:t>PLANNING</a:t>
            </a:r>
          </a:p>
        </p:txBody>
      </p:sp>
      <p:sp>
        <p:nvSpPr>
          <p:cNvPr name="TextBox 12" id="12"/>
          <p:cNvSpPr txBox="true"/>
          <p:nvPr/>
        </p:nvSpPr>
        <p:spPr>
          <a:xfrm rot="0">
            <a:off x="9810750" y="4319521"/>
            <a:ext cx="5905500" cy="1940560"/>
          </a:xfrm>
          <a:prstGeom prst="rect">
            <a:avLst/>
          </a:prstGeom>
        </p:spPr>
        <p:txBody>
          <a:bodyPr anchor="t" rtlCol="false" tIns="0" lIns="0" bIns="0" rIns="0">
            <a:spAutoFit/>
          </a:bodyPr>
          <a:lstStyle/>
          <a:p>
            <a:pPr algn="l">
              <a:lnSpc>
                <a:spcPts val="2239"/>
              </a:lnSpc>
            </a:pPr>
            <a:r>
              <a:rPr lang="en-US" sz="1599">
                <a:solidFill>
                  <a:srgbClr val="C3C5C6"/>
                </a:solidFill>
                <a:latin typeface="Poppins Light"/>
                <a:ea typeface="Poppins Light"/>
                <a:cs typeface="Poppins Light"/>
                <a:sym typeface="Poppins Light"/>
              </a:rPr>
              <a:t>The project timeline outlines key milestones and deadlines to ensure that all phases are completed efficiently and on schedule. It begins with the initiation phase, where project goals are clearly defined, and resources are allocated. Following this, the planning phase involves detailed strategizing and the development of a comprehensive roadmap. </a:t>
            </a:r>
          </a:p>
        </p:txBody>
      </p:sp>
      <p:sp>
        <p:nvSpPr>
          <p:cNvPr name="TextBox 13" id="13"/>
          <p:cNvSpPr txBox="true"/>
          <p:nvPr/>
        </p:nvSpPr>
        <p:spPr>
          <a:xfrm rot="0">
            <a:off x="4294294" y="2465124"/>
            <a:ext cx="3067243" cy="755015"/>
          </a:xfrm>
          <a:prstGeom prst="rect">
            <a:avLst/>
          </a:prstGeom>
        </p:spPr>
        <p:txBody>
          <a:bodyPr anchor="t" rtlCol="false" tIns="0" lIns="0" bIns="0" rIns="0">
            <a:spAutoFit/>
          </a:bodyPr>
          <a:lstStyle/>
          <a:p>
            <a:pPr algn="l">
              <a:lnSpc>
                <a:spcPts val="1960"/>
              </a:lnSpc>
            </a:pPr>
            <a:r>
              <a:rPr lang="en-US" sz="1400">
                <a:solidFill>
                  <a:srgbClr val="C3C5C6"/>
                </a:solidFill>
                <a:latin typeface="Poppins Light"/>
                <a:ea typeface="Poppins Light"/>
                <a:cs typeface="Poppins Light"/>
                <a:sym typeface="Poppins Light"/>
              </a:rPr>
              <a:t>Research is a vital process that drives innovation and expands our understanding of the world.</a:t>
            </a:r>
          </a:p>
        </p:txBody>
      </p:sp>
      <p:sp>
        <p:nvSpPr>
          <p:cNvPr name="TextBox 14" id="14"/>
          <p:cNvSpPr txBox="true"/>
          <p:nvPr/>
        </p:nvSpPr>
        <p:spPr>
          <a:xfrm rot="0">
            <a:off x="4294294" y="6231506"/>
            <a:ext cx="3067243" cy="1002665"/>
          </a:xfrm>
          <a:prstGeom prst="rect">
            <a:avLst/>
          </a:prstGeom>
        </p:spPr>
        <p:txBody>
          <a:bodyPr anchor="t" rtlCol="false" tIns="0" lIns="0" bIns="0" rIns="0">
            <a:spAutoFit/>
          </a:bodyPr>
          <a:lstStyle/>
          <a:p>
            <a:pPr algn="l">
              <a:lnSpc>
                <a:spcPts val="1960"/>
              </a:lnSpc>
            </a:pPr>
            <a:r>
              <a:rPr lang="en-US" sz="1400">
                <a:solidFill>
                  <a:srgbClr val="C3C5C6"/>
                </a:solidFill>
                <a:latin typeface="Poppins Light"/>
                <a:ea typeface="Poppins Light"/>
                <a:cs typeface="Poppins Light"/>
                <a:sym typeface="Poppins Light"/>
              </a:rPr>
              <a:t>Effective project planning is essential for ensuring that all tasks are completed on time and within budget.</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666750" y="627888"/>
            <a:ext cx="18288000" cy="7754112"/>
          </a:xfrm>
          <a:custGeom>
            <a:avLst/>
            <a:gdLst/>
            <a:ahLst/>
            <a:cxnLst/>
            <a:rect r="r" b="b" t="t" l="l"/>
            <a:pathLst>
              <a:path h="7754112" w="18288000">
                <a:moveTo>
                  <a:pt x="0" y="0"/>
                </a:moveTo>
                <a:lnTo>
                  <a:pt x="18288000" y="0"/>
                </a:lnTo>
                <a:lnTo>
                  <a:pt x="18288000" y="7754112"/>
                </a:lnTo>
                <a:lnTo>
                  <a:pt x="0" y="7754112"/>
                </a:lnTo>
                <a:lnTo>
                  <a:pt x="0" y="0"/>
                </a:lnTo>
                <a:close/>
              </a:path>
            </a:pathLst>
          </a:custGeom>
          <a:blipFill>
            <a:blip r:embed="rId2">
              <a:alphaModFix amt="60000"/>
            </a:blip>
            <a:stretch>
              <a:fillRect l="0" t="0" r="0" b="0"/>
            </a:stretch>
          </a:blipFill>
        </p:spPr>
      </p:sp>
      <p:sp>
        <p:nvSpPr>
          <p:cNvPr name="AutoShape 3" id="3"/>
          <p:cNvSpPr/>
          <p:nvPr/>
        </p:nvSpPr>
        <p:spPr>
          <a:xfrm>
            <a:off x="9810750" y="2866444"/>
            <a:ext cx="567898" cy="0"/>
          </a:xfrm>
          <a:prstGeom prst="line">
            <a:avLst/>
          </a:prstGeom>
          <a:ln cap="flat" w="38100">
            <a:solidFill>
              <a:srgbClr val="D2B99A"/>
            </a:solidFill>
            <a:prstDash val="solid"/>
            <a:headEnd type="none" len="sm" w="sm"/>
            <a:tailEnd type="none" len="sm" w="sm"/>
          </a:ln>
        </p:spPr>
      </p:sp>
      <p:sp>
        <p:nvSpPr>
          <p:cNvPr name="TextBox 4" id="4"/>
          <p:cNvSpPr txBox="true"/>
          <p:nvPr/>
        </p:nvSpPr>
        <p:spPr>
          <a:xfrm rot="0">
            <a:off x="9810750" y="1952625"/>
            <a:ext cx="5905500" cy="799465"/>
          </a:xfrm>
          <a:prstGeom prst="rect">
            <a:avLst/>
          </a:prstGeom>
        </p:spPr>
        <p:txBody>
          <a:bodyPr anchor="t" rtlCol="false" tIns="0" lIns="0" bIns="0" rIns="0">
            <a:spAutoFit/>
          </a:bodyPr>
          <a:lstStyle/>
          <a:p>
            <a:pPr algn="l">
              <a:lnSpc>
                <a:spcPts val="5600"/>
              </a:lnSpc>
            </a:pPr>
            <a:r>
              <a:rPr lang="en-US" sz="5600">
                <a:solidFill>
                  <a:srgbClr val="FFFFFF"/>
                </a:solidFill>
                <a:latin typeface="Poppins Light"/>
                <a:ea typeface="Poppins Light"/>
                <a:cs typeface="Poppins Light"/>
                <a:sym typeface="Poppins Light"/>
              </a:rPr>
              <a:t>TIMELINE</a:t>
            </a:r>
          </a:p>
        </p:txBody>
      </p:sp>
      <p:sp>
        <p:nvSpPr>
          <p:cNvPr name="TextBox 5" id="5"/>
          <p:cNvSpPr txBox="true"/>
          <p:nvPr/>
        </p:nvSpPr>
        <p:spPr>
          <a:xfrm rot="0">
            <a:off x="9810750" y="3612766"/>
            <a:ext cx="3937635" cy="375285"/>
          </a:xfrm>
          <a:prstGeom prst="rect">
            <a:avLst/>
          </a:prstGeom>
        </p:spPr>
        <p:txBody>
          <a:bodyPr anchor="t" rtlCol="false" tIns="0" lIns="0" bIns="0" rIns="0">
            <a:spAutoFit/>
          </a:bodyPr>
          <a:lstStyle/>
          <a:p>
            <a:pPr algn="l">
              <a:lnSpc>
                <a:spcPts val="2940"/>
              </a:lnSpc>
            </a:pPr>
            <a:r>
              <a:rPr lang="en-US" sz="2100">
                <a:solidFill>
                  <a:srgbClr val="FFFFFF"/>
                </a:solidFill>
                <a:latin typeface="Poppins"/>
                <a:ea typeface="Poppins"/>
                <a:cs typeface="Poppins"/>
                <a:sym typeface="Poppins"/>
              </a:rPr>
              <a:t>Project Timeline</a:t>
            </a:r>
          </a:p>
        </p:txBody>
      </p:sp>
      <p:sp>
        <p:nvSpPr>
          <p:cNvPr name="TextBox 6" id="6"/>
          <p:cNvSpPr txBox="true"/>
          <p:nvPr/>
        </p:nvSpPr>
        <p:spPr>
          <a:xfrm rot="0">
            <a:off x="9810750" y="4319521"/>
            <a:ext cx="5905500" cy="1940560"/>
          </a:xfrm>
          <a:prstGeom prst="rect">
            <a:avLst/>
          </a:prstGeom>
        </p:spPr>
        <p:txBody>
          <a:bodyPr anchor="t" rtlCol="false" tIns="0" lIns="0" bIns="0" rIns="0">
            <a:spAutoFit/>
          </a:bodyPr>
          <a:lstStyle/>
          <a:p>
            <a:pPr algn="l">
              <a:lnSpc>
                <a:spcPts val="2239"/>
              </a:lnSpc>
            </a:pPr>
            <a:r>
              <a:rPr lang="en-US" sz="1599">
                <a:solidFill>
                  <a:srgbClr val="C3C5C6"/>
                </a:solidFill>
                <a:latin typeface="Poppins Light"/>
                <a:ea typeface="Poppins Light"/>
                <a:cs typeface="Poppins Light"/>
                <a:sym typeface="Poppins Light"/>
              </a:rPr>
              <a:t>The project timeline outlines key milestones and deadlines to ensure that all phases are completed efficiently and on schedule. It begins with the initiation phase, where project goals are clearly defined, and resources are allocated. Following this, the planning phase involves detailed strategizing and the development of a comprehensive roadmap. </a:t>
            </a:r>
          </a:p>
        </p:txBody>
      </p:sp>
      <p:sp>
        <p:nvSpPr>
          <p:cNvPr name="AutoShape 7" id="7"/>
          <p:cNvSpPr/>
          <p:nvPr/>
        </p:nvSpPr>
        <p:spPr>
          <a:xfrm flipV="true">
            <a:off x="2836216" y="3112049"/>
            <a:ext cx="0" cy="1789062"/>
          </a:xfrm>
          <a:prstGeom prst="line">
            <a:avLst/>
          </a:prstGeom>
          <a:ln cap="flat" w="9525">
            <a:solidFill>
              <a:srgbClr val="C3C5C6"/>
            </a:solidFill>
            <a:prstDash val="solid"/>
            <a:headEnd type="none" len="sm" w="sm"/>
            <a:tailEnd type="none" len="sm" w="sm"/>
          </a:ln>
        </p:spPr>
      </p:sp>
      <p:sp>
        <p:nvSpPr>
          <p:cNvPr name="AutoShape 8" id="8"/>
          <p:cNvSpPr/>
          <p:nvPr/>
        </p:nvSpPr>
        <p:spPr>
          <a:xfrm flipV="true">
            <a:off x="2836216" y="0"/>
            <a:ext cx="0" cy="1238250"/>
          </a:xfrm>
          <a:prstGeom prst="line">
            <a:avLst/>
          </a:prstGeom>
          <a:ln cap="flat" w="9525">
            <a:solidFill>
              <a:srgbClr val="C3C5C6"/>
            </a:solidFill>
            <a:prstDash val="solid"/>
            <a:headEnd type="none" len="sm" w="sm"/>
            <a:tailEnd type="none" len="sm" w="sm"/>
          </a:ln>
        </p:spPr>
      </p:sp>
      <p:sp>
        <p:nvSpPr>
          <p:cNvPr name="Freeform 9" id="9"/>
          <p:cNvSpPr/>
          <p:nvPr/>
        </p:nvSpPr>
        <p:spPr>
          <a:xfrm flipH="false" flipV="false" rot="0">
            <a:off x="2571750" y="1905000"/>
            <a:ext cx="441301" cy="538456"/>
          </a:xfrm>
          <a:custGeom>
            <a:avLst/>
            <a:gdLst/>
            <a:ahLst/>
            <a:cxnLst/>
            <a:rect r="r" b="b" t="t" l="l"/>
            <a:pathLst>
              <a:path h="538456" w="441301">
                <a:moveTo>
                  <a:pt x="0" y="0"/>
                </a:moveTo>
                <a:lnTo>
                  <a:pt x="441301" y="0"/>
                </a:lnTo>
                <a:lnTo>
                  <a:pt x="441301" y="538456"/>
                </a:lnTo>
                <a:lnTo>
                  <a:pt x="0" y="5384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2585456" y="5567861"/>
            <a:ext cx="534540" cy="538456"/>
          </a:xfrm>
          <a:custGeom>
            <a:avLst/>
            <a:gdLst/>
            <a:ahLst/>
            <a:cxnLst/>
            <a:rect r="r" b="b" t="t" l="l"/>
            <a:pathLst>
              <a:path h="538456" w="534540">
                <a:moveTo>
                  <a:pt x="0" y="0"/>
                </a:moveTo>
                <a:lnTo>
                  <a:pt x="534540" y="0"/>
                </a:lnTo>
                <a:lnTo>
                  <a:pt x="534540" y="538457"/>
                </a:lnTo>
                <a:lnTo>
                  <a:pt x="0" y="53845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1" id="11"/>
          <p:cNvSpPr txBox="true"/>
          <p:nvPr/>
        </p:nvSpPr>
        <p:spPr>
          <a:xfrm rot="0">
            <a:off x="4294294" y="1847850"/>
            <a:ext cx="3067243" cy="375285"/>
          </a:xfrm>
          <a:prstGeom prst="rect">
            <a:avLst/>
          </a:prstGeom>
        </p:spPr>
        <p:txBody>
          <a:bodyPr anchor="t" rtlCol="false" tIns="0" lIns="0" bIns="0" rIns="0">
            <a:spAutoFit/>
          </a:bodyPr>
          <a:lstStyle/>
          <a:p>
            <a:pPr algn="l">
              <a:lnSpc>
                <a:spcPts val="2940"/>
              </a:lnSpc>
            </a:pPr>
            <a:r>
              <a:rPr lang="en-US" sz="2100" spc="126">
                <a:solidFill>
                  <a:srgbClr val="FFFFFF"/>
                </a:solidFill>
                <a:latin typeface="Poppins"/>
                <a:ea typeface="Poppins"/>
                <a:cs typeface="Poppins"/>
                <a:sym typeface="Poppins"/>
              </a:rPr>
              <a:t>DEVELOPMENT</a:t>
            </a:r>
          </a:p>
        </p:txBody>
      </p:sp>
      <p:sp>
        <p:nvSpPr>
          <p:cNvPr name="TextBox 12" id="12"/>
          <p:cNvSpPr txBox="true"/>
          <p:nvPr/>
        </p:nvSpPr>
        <p:spPr>
          <a:xfrm rot="0">
            <a:off x="4294294" y="5620872"/>
            <a:ext cx="3067243" cy="375285"/>
          </a:xfrm>
          <a:prstGeom prst="rect">
            <a:avLst/>
          </a:prstGeom>
        </p:spPr>
        <p:txBody>
          <a:bodyPr anchor="t" rtlCol="false" tIns="0" lIns="0" bIns="0" rIns="0">
            <a:spAutoFit/>
          </a:bodyPr>
          <a:lstStyle/>
          <a:p>
            <a:pPr algn="l">
              <a:lnSpc>
                <a:spcPts val="2940"/>
              </a:lnSpc>
            </a:pPr>
            <a:r>
              <a:rPr lang="en-US" sz="2100" spc="126">
                <a:solidFill>
                  <a:srgbClr val="FFFFFF"/>
                </a:solidFill>
                <a:latin typeface="Poppins"/>
                <a:ea typeface="Poppins"/>
                <a:cs typeface="Poppins"/>
                <a:sym typeface="Poppins"/>
              </a:rPr>
              <a:t>LAUNCHING</a:t>
            </a:r>
          </a:p>
        </p:txBody>
      </p:sp>
      <p:sp>
        <p:nvSpPr>
          <p:cNvPr name="TextBox 13" id="13"/>
          <p:cNvSpPr txBox="true"/>
          <p:nvPr/>
        </p:nvSpPr>
        <p:spPr>
          <a:xfrm rot="0">
            <a:off x="4294294" y="2465124"/>
            <a:ext cx="3067243" cy="1250315"/>
          </a:xfrm>
          <a:prstGeom prst="rect">
            <a:avLst/>
          </a:prstGeom>
        </p:spPr>
        <p:txBody>
          <a:bodyPr anchor="t" rtlCol="false" tIns="0" lIns="0" bIns="0" rIns="0">
            <a:spAutoFit/>
          </a:bodyPr>
          <a:lstStyle/>
          <a:p>
            <a:pPr algn="l">
              <a:lnSpc>
                <a:spcPts val="1960"/>
              </a:lnSpc>
            </a:pPr>
            <a:r>
              <a:rPr lang="en-US" sz="1400">
                <a:solidFill>
                  <a:srgbClr val="C3C5C6"/>
                </a:solidFill>
                <a:latin typeface="Poppins Light"/>
                <a:ea typeface="Poppins Light"/>
                <a:cs typeface="Poppins Light"/>
                <a:sym typeface="Poppins Light"/>
              </a:rPr>
              <a:t>Effective project development requires clear communication, meticulous planning, and the ability to adapt to changing circumstances.</a:t>
            </a:r>
          </a:p>
        </p:txBody>
      </p:sp>
      <p:sp>
        <p:nvSpPr>
          <p:cNvPr name="TextBox 14" id="14"/>
          <p:cNvSpPr txBox="true"/>
          <p:nvPr/>
        </p:nvSpPr>
        <p:spPr>
          <a:xfrm rot="0">
            <a:off x="4294294" y="6231506"/>
            <a:ext cx="3067243" cy="1250315"/>
          </a:xfrm>
          <a:prstGeom prst="rect">
            <a:avLst/>
          </a:prstGeom>
        </p:spPr>
        <p:txBody>
          <a:bodyPr anchor="t" rtlCol="false" tIns="0" lIns="0" bIns="0" rIns="0">
            <a:spAutoFit/>
          </a:bodyPr>
          <a:lstStyle/>
          <a:p>
            <a:pPr algn="l">
              <a:lnSpc>
                <a:spcPts val="1960"/>
              </a:lnSpc>
            </a:pPr>
            <a:r>
              <a:rPr lang="en-US" sz="1400">
                <a:solidFill>
                  <a:srgbClr val="C3C5C6"/>
                </a:solidFill>
                <a:latin typeface="Poppins Light"/>
                <a:ea typeface="Poppins Light"/>
                <a:cs typeface="Poppins Light"/>
                <a:sym typeface="Poppins Light"/>
              </a:rPr>
              <a:t>Launching a project when it's ready marks the moment when all your hard work and preparation align, turning ideas into tangible action.</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2571750" y="1905000"/>
            <a:ext cx="13144500" cy="5573268"/>
          </a:xfrm>
          <a:custGeom>
            <a:avLst/>
            <a:gdLst/>
            <a:ahLst/>
            <a:cxnLst/>
            <a:rect r="r" b="b" t="t" l="l"/>
            <a:pathLst>
              <a:path h="5573268" w="13144500">
                <a:moveTo>
                  <a:pt x="0" y="0"/>
                </a:moveTo>
                <a:lnTo>
                  <a:pt x="13144500" y="0"/>
                </a:lnTo>
                <a:lnTo>
                  <a:pt x="13144500" y="5573268"/>
                </a:lnTo>
                <a:lnTo>
                  <a:pt x="0" y="5573268"/>
                </a:lnTo>
                <a:lnTo>
                  <a:pt x="0" y="0"/>
                </a:lnTo>
                <a:close/>
              </a:path>
            </a:pathLst>
          </a:custGeom>
          <a:blipFill>
            <a:blip r:embed="rId2">
              <a:alphaModFix amt="60000"/>
            </a:blip>
            <a:stretch>
              <a:fillRect l="0" t="0" r="0" b="0"/>
            </a:stretch>
          </a:blipFill>
        </p:spPr>
      </p:sp>
      <p:sp>
        <p:nvSpPr>
          <p:cNvPr name="TextBox 3" id="3"/>
          <p:cNvSpPr txBox="true"/>
          <p:nvPr/>
        </p:nvSpPr>
        <p:spPr>
          <a:xfrm rot="0">
            <a:off x="2571750" y="2607999"/>
            <a:ext cx="7026020" cy="799465"/>
          </a:xfrm>
          <a:prstGeom prst="rect">
            <a:avLst/>
          </a:prstGeom>
        </p:spPr>
        <p:txBody>
          <a:bodyPr anchor="t" rtlCol="false" tIns="0" lIns="0" bIns="0" rIns="0">
            <a:spAutoFit/>
          </a:bodyPr>
          <a:lstStyle/>
          <a:p>
            <a:pPr algn="l">
              <a:lnSpc>
                <a:spcPts val="5600"/>
              </a:lnSpc>
            </a:pPr>
            <a:r>
              <a:rPr lang="en-US" sz="5600">
                <a:solidFill>
                  <a:srgbClr val="FFFFFF"/>
                </a:solidFill>
                <a:latin typeface="Poppins Light"/>
                <a:ea typeface="Poppins Light"/>
                <a:cs typeface="Poppins Light"/>
                <a:sym typeface="Poppins Light"/>
              </a:rPr>
              <a:t>CONTACT US</a:t>
            </a:r>
          </a:p>
        </p:txBody>
      </p:sp>
      <p:sp>
        <p:nvSpPr>
          <p:cNvPr name="AutoShape 4" id="4"/>
          <p:cNvSpPr/>
          <p:nvPr/>
        </p:nvSpPr>
        <p:spPr>
          <a:xfrm>
            <a:off x="2571750" y="3521818"/>
            <a:ext cx="567898" cy="0"/>
          </a:xfrm>
          <a:prstGeom prst="line">
            <a:avLst/>
          </a:prstGeom>
          <a:ln cap="flat" w="38100">
            <a:solidFill>
              <a:srgbClr val="D2B99A"/>
            </a:solidFill>
            <a:prstDash val="solid"/>
            <a:headEnd type="none" len="sm" w="sm"/>
            <a:tailEnd type="none" len="sm" w="sm"/>
          </a:ln>
        </p:spPr>
      </p:sp>
      <p:sp>
        <p:nvSpPr>
          <p:cNvPr name="Freeform 5" id="5"/>
          <p:cNvSpPr/>
          <p:nvPr/>
        </p:nvSpPr>
        <p:spPr>
          <a:xfrm flipH="false" flipV="false" rot="0">
            <a:off x="2571750" y="1905000"/>
            <a:ext cx="274374" cy="274374"/>
          </a:xfrm>
          <a:custGeom>
            <a:avLst/>
            <a:gdLst/>
            <a:ahLst/>
            <a:cxnLst/>
            <a:rect r="r" b="b" t="t" l="l"/>
            <a:pathLst>
              <a:path h="274374" w="274374">
                <a:moveTo>
                  <a:pt x="0" y="0"/>
                </a:moveTo>
                <a:lnTo>
                  <a:pt x="274374" y="0"/>
                </a:lnTo>
                <a:lnTo>
                  <a:pt x="274374" y="274374"/>
                </a:lnTo>
                <a:lnTo>
                  <a:pt x="0" y="27437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3036624" y="1914525"/>
            <a:ext cx="1099697" cy="264795"/>
          </a:xfrm>
          <a:prstGeom prst="rect">
            <a:avLst/>
          </a:prstGeom>
        </p:spPr>
        <p:txBody>
          <a:bodyPr anchor="t" rtlCol="false" tIns="0" lIns="0" bIns="0" rIns="0">
            <a:spAutoFit/>
          </a:bodyPr>
          <a:lstStyle/>
          <a:p>
            <a:pPr algn="l">
              <a:lnSpc>
                <a:spcPts val="1800"/>
              </a:lnSpc>
            </a:pPr>
            <a:r>
              <a:rPr lang="en-US" sz="1800">
                <a:solidFill>
                  <a:srgbClr val="FFFFFF"/>
                </a:solidFill>
                <a:latin typeface="Poppins"/>
                <a:ea typeface="Poppins"/>
                <a:cs typeface="Poppins"/>
                <a:sym typeface="Poppins"/>
              </a:rPr>
              <a:t>BORCELLE</a:t>
            </a:r>
          </a:p>
        </p:txBody>
      </p:sp>
      <p:sp>
        <p:nvSpPr>
          <p:cNvPr name="TextBox 7" id="7"/>
          <p:cNvSpPr txBox="true"/>
          <p:nvPr/>
        </p:nvSpPr>
        <p:spPr>
          <a:xfrm rot="0">
            <a:off x="2571750" y="7572692"/>
            <a:ext cx="998558" cy="424815"/>
          </a:xfrm>
          <a:prstGeom prst="rect">
            <a:avLst/>
          </a:prstGeom>
        </p:spPr>
        <p:txBody>
          <a:bodyPr anchor="t" rtlCol="false" tIns="0" lIns="0" bIns="0" rIns="0">
            <a:spAutoFit/>
          </a:bodyPr>
          <a:lstStyle/>
          <a:p>
            <a:pPr algn="l">
              <a:lnSpc>
                <a:spcPts val="3359"/>
              </a:lnSpc>
            </a:pPr>
            <a:r>
              <a:rPr lang="en-US" sz="2399">
                <a:solidFill>
                  <a:srgbClr val="FFFFFF"/>
                </a:solidFill>
                <a:latin typeface="Poppins"/>
                <a:ea typeface="Poppins"/>
                <a:cs typeface="Poppins"/>
                <a:sym typeface="Poppins"/>
              </a:rPr>
              <a:t>Phone</a:t>
            </a:r>
          </a:p>
        </p:txBody>
      </p:sp>
      <p:sp>
        <p:nvSpPr>
          <p:cNvPr name="TextBox 8" id="8"/>
          <p:cNvSpPr txBox="true"/>
          <p:nvPr/>
        </p:nvSpPr>
        <p:spPr>
          <a:xfrm rot="0">
            <a:off x="7046714" y="7584439"/>
            <a:ext cx="880027" cy="424815"/>
          </a:xfrm>
          <a:prstGeom prst="rect">
            <a:avLst/>
          </a:prstGeom>
        </p:spPr>
        <p:txBody>
          <a:bodyPr anchor="t" rtlCol="false" tIns="0" lIns="0" bIns="0" rIns="0">
            <a:spAutoFit/>
          </a:bodyPr>
          <a:lstStyle/>
          <a:p>
            <a:pPr algn="l">
              <a:lnSpc>
                <a:spcPts val="3359"/>
              </a:lnSpc>
            </a:pPr>
            <a:r>
              <a:rPr lang="en-US" sz="2399">
                <a:solidFill>
                  <a:srgbClr val="FFFFFF"/>
                </a:solidFill>
                <a:latin typeface="Poppins"/>
                <a:ea typeface="Poppins"/>
                <a:cs typeface="Poppins"/>
                <a:sym typeface="Poppins"/>
              </a:rPr>
              <a:t>Email</a:t>
            </a:r>
          </a:p>
        </p:txBody>
      </p:sp>
      <p:sp>
        <p:nvSpPr>
          <p:cNvPr name="TextBox 9" id="9"/>
          <p:cNvSpPr txBox="true"/>
          <p:nvPr/>
        </p:nvSpPr>
        <p:spPr>
          <a:xfrm rot="0">
            <a:off x="13054310" y="7572692"/>
            <a:ext cx="1330970" cy="424815"/>
          </a:xfrm>
          <a:prstGeom prst="rect">
            <a:avLst/>
          </a:prstGeom>
        </p:spPr>
        <p:txBody>
          <a:bodyPr anchor="t" rtlCol="false" tIns="0" lIns="0" bIns="0" rIns="0">
            <a:spAutoFit/>
          </a:bodyPr>
          <a:lstStyle/>
          <a:p>
            <a:pPr algn="l">
              <a:lnSpc>
                <a:spcPts val="3359"/>
              </a:lnSpc>
            </a:pPr>
            <a:r>
              <a:rPr lang="en-US" sz="2399">
                <a:solidFill>
                  <a:srgbClr val="FFFFFF"/>
                </a:solidFill>
                <a:latin typeface="Poppins"/>
                <a:ea typeface="Poppins"/>
                <a:cs typeface="Poppins"/>
                <a:sym typeface="Poppins"/>
              </a:rPr>
              <a:t>Website</a:t>
            </a:r>
          </a:p>
        </p:txBody>
      </p:sp>
      <p:sp>
        <p:nvSpPr>
          <p:cNvPr name="TextBox 10" id="10"/>
          <p:cNvSpPr txBox="true"/>
          <p:nvPr/>
        </p:nvSpPr>
        <p:spPr>
          <a:xfrm rot="0">
            <a:off x="2571750" y="7990205"/>
            <a:ext cx="2074664" cy="391795"/>
          </a:xfrm>
          <a:prstGeom prst="rect">
            <a:avLst/>
          </a:prstGeom>
        </p:spPr>
        <p:txBody>
          <a:bodyPr anchor="t" rtlCol="false" tIns="0" lIns="0" bIns="0" rIns="0">
            <a:spAutoFit/>
          </a:bodyPr>
          <a:lstStyle/>
          <a:p>
            <a:pPr algn="l">
              <a:lnSpc>
                <a:spcPts val="3079"/>
              </a:lnSpc>
            </a:pPr>
            <a:r>
              <a:rPr lang="en-US" sz="2199">
                <a:solidFill>
                  <a:srgbClr val="C3C5C6"/>
                </a:solidFill>
                <a:latin typeface="Poppins Light"/>
                <a:ea typeface="Poppins Light"/>
                <a:cs typeface="Poppins Light"/>
                <a:sym typeface="Poppins Light"/>
              </a:rPr>
              <a:t>+123-456-7890</a:t>
            </a:r>
          </a:p>
        </p:txBody>
      </p:sp>
      <p:sp>
        <p:nvSpPr>
          <p:cNvPr name="TextBox 11" id="11"/>
          <p:cNvSpPr txBox="true"/>
          <p:nvPr/>
        </p:nvSpPr>
        <p:spPr>
          <a:xfrm rot="0">
            <a:off x="7046714" y="8001952"/>
            <a:ext cx="3610482" cy="391795"/>
          </a:xfrm>
          <a:prstGeom prst="rect">
            <a:avLst/>
          </a:prstGeom>
        </p:spPr>
        <p:txBody>
          <a:bodyPr anchor="t" rtlCol="false" tIns="0" lIns="0" bIns="0" rIns="0">
            <a:spAutoFit/>
          </a:bodyPr>
          <a:lstStyle/>
          <a:p>
            <a:pPr algn="l">
              <a:lnSpc>
                <a:spcPts val="3079"/>
              </a:lnSpc>
            </a:pPr>
            <a:r>
              <a:rPr lang="en-US" sz="2199">
                <a:solidFill>
                  <a:srgbClr val="C3C5C6"/>
                </a:solidFill>
                <a:latin typeface="Poppins Light"/>
                <a:ea typeface="Poppins Light"/>
                <a:cs typeface="Poppins Light"/>
                <a:sym typeface="Poppins Light"/>
              </a:rPr>
              <a:t>hello@reallygreatsite.com</a:t>
            </a:r>
          </a:p>
        </p:txBody>
      </p:sp>
      <p:sp>
        <p:nvSpPr>
          <p:cNvPr name="TextBox 12" id="12"/>
          <p:cNvSpPr txBox="true"/>
          <p:nvPr/>
        </p:nvSpPr>
        <p:spPr>
          <a:xfrm rot="0">
            <a:off x="13054310" y="7990205"/>
            <a:ext cx="2661940" cy="391795"/>
          </a:xfrm>
          <a:prstGeom prst="rect">
            <a:avLst/>
          </a:prstGeom>
        </p:spPr>
        <p:txBody>
          <a:bodyPr anchor="t" rtlCol="false" tIns="0" lIns="0" bIns="0" rIns="0">
            <a:spAutoFit/>
          </a:bodyPr>
          <a:lstStyle/>
          <a:p>
            <a:pPr algn="l">
              <a:lnSpc>
                <a:spcPts val="3079"/>
              </a:lnSpc>
            </a:pPr>
            <a:r>
              <a:rPr lang="en-US" sz="2199">
                <a:solidFill>
                  <a:srgbClr val="C3C5C6"/>
                </a:solidFill>
                <a:latin typeface="Poppins Light"/>
                <a:ea typeface="Poppins Light"/>
                <a:cs typeface="Poppins Light"/>
                <a:sym typeface="Poppins Light"/>
              </a:rPr>
              <a:t>reallygreatsite.com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DAHX-Az_804</dc:identifier>
  <dcterms:modified xsi:type="dcterms:W3CDTF">2011-08-01T06:04:30Z</dcterms:modified>
  <cp:revision>1</cp:revision>
  <dc:title>Dark Blue Gradient Modern Professional Presentation</dc:title>
</cp:coreProperties>
</file>